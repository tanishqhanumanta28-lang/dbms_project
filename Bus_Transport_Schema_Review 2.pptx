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3aca85f-a95b-a9f6-9d93-6ed11d8610ea}">
          <p14:sldIdLst>
            <p14:sldId id="256"/>
          </p14:sldIdLst>
        </p14:section>
        <p14:section name="Design" id="{98666e8f-6b1a-6f3e-1d8c-8cd24fe79d1c}">
          <p14:sldIdLst>
            <p14:sldId id="257"/>
            <p14:sldId id="258"/>
          </p14:sldIdLst>
        </p14:section>
        <p14:section name="Schema detail" id="{82d2df0b-991c-1fe3-ba19-0b181aedd040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Website" id="{9d0fc476-d9f6-3c90-4368-86890d5d806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Wrap-up" id="{8e890a8f-4da8-a7ca-ea7f-112367a053e4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2 database schema for a school bus transport management system, written for PostgreSQL 15+.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schema has 12 tables, 11 foreign key constraints, 12 CHECK constraints, 5 UNIQUE constraints and 1 partial unique index.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links a bus, a driver and an attendant. RouteSequence joins routes to stops. TransportRegistration is the hub that ties students, fee plans and route stops together, and PickupLog and Payment hang off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License numbers must match two letters followed by thirteen digits (15 characters in total).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composite foreign key on (route_id, stop_id) stops a student being registered at a stop that is not on the chosen route.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1887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School Bus Transport Management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Review 2 · Database schema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PostgreSQL 15+</a:t>
            </a:r>
            <a:endParaRPr lang="en-US" sz="1800" dirty="0"/>
          </a:p>
        </p:txBody>
      </p:sp>
      <p:sp>
        <p:nvSpPr>
          <p:cNvPr id="4" name="Bus body"/>
          <p:cNvSpPr/>
          <p:nvPr/>
        </p:nvSpPr>
        <p:spPr>
          <a:xfrm>
            <a:off x="5669280" y="1737360"/>
            <a:ext cx="3017520" cy="146304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/>
        </p:spPr>
      </p:sp>
      <p:sp>
        <p:nvSpPr>
          <p:cNvPr id="5" name="Bus window 1"/>
          <p:cNvSpPr/>
          <p:nvPr/>
        </p:nvSpPr>
        <p:spPr>
          <a:xfrm>
            <a:off x="5897880" y="1965960"/>
            <a:ext cx="512064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6" name="Bus window 2"/>
          <p:cNvSpPr/>
          <p:nvPr/>
        </p:nvSpPr>
        <p:spPr>
          <a:xfrm>
            <a:off x="6556248" y="1965960"/>
            <a:ext cx="512064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7" name="Bus window 3"/>
          <p:cNvSpPr/>
          <p:nvPr/>
        </p:nvSpPr>
        <p:spPr>
          <a:xfrm>
            <a:off x="7214616" y="1965960"/>
            <a:ext cx="512064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8" name="Bus window 4"/>
          <p:cNvSpPr/>
          <p:nvPr/>
        </p:nvSpPr>
        <p:spPr>
          <a:xfrm>
            <a:off x="7872984" y="1965960"/>
            <a:ext cx="512064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</p:sp>
      <p:sp>
        <p:nvSpPr>
          <p:cNvPr id="9" name="Bus door"/>
          <p:cNvSpPr/>
          <p:nvPr/>
        </p:nvSpPr>
        <p:spPr>
          <a:xfrm>
            <a:off x="5897880" y="2697480"/>
            <a:ext cx="822960" cy="22860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10" name="Wheel 1"/>
          <p:cNvSpPr/>
          <p:nvPr/>
        </p:nvSpPr>
        <p:spPr>
          <a:xfrm>
            <a:off x="6263640" y="2971800"/>
            <a:ext cx="548640" cy="54864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1" name="Hub 1"/>
          <p:cNvSpPr/>
          <p:nvPr/>
        </p:nvSpPr>
        <p:spPr>
          <a:xfrm>
            <a:off x="6446520" y="3154680"/>
            <a:ext cx="182880" cy="1828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2" name="Wheel 2"/>
          <p:cNvSpPr/>
          <p:nvPr/>
        </p:nvSpPr>
        <p:spPr>
          <a:xfrm>
            <a:off x="7772400" y="2971800"/>
            <a:ext cx="548640" cy="548640"/>
          </a:xfrm>
          <a:prstGeom prst="ellipse">
            <a:avLst/>
          </a:prstGeom>
          <a:solidFill>
            <a:schemeClr val="tx2"/>
          </a:solidFill>
          <a:ln w="31750">
            <a:solidFill>
              <a:schemeClr val="bg1"/>
            </a:solidFill>
            <a:prstDash val="solid"/>
          </a:ln>
        </p:spPr>
      </p:sp>
      <p:sp>
        <p:nvSpPr>
          <p:cNvPr id="13" name="Hub 2"/>
          <p:cNvSpPr/>
          <p:nvPr/>
        </p:nvSpPr>
        <p:spPr>
          <a:xfrm>
            <a:off x="7955280" y="3154680"/>
            <a:ext cx="182880" cy="182880"/>
          </a:xfrm>
          <a:prstGeom prst="ellipse">
            <a:avLst/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Schema at a glance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457200" y="1234440"/>
            <a:ext cx="192024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4" name="Stat value 1"/>
          <p:cNvSpPr txBox="1"/>
          <p:nvPr/>
        </p:nvSpPr>
        <p:spPr>
          <a:xfrm>
            <a:off x="45720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12</a:t>
            </a:r>
            <a:endParaRPr lang="en-US" sz="5400" dirty="0"/>
          </a:p>
        </p:txBody>
      </p:sp>
      <p:sp>
        <p:nvSpPr>
          <p:cNvPr id="5" name="Stat label 1"/>
          <p:cNvSpPr txBox="1"/>
          <p:nvPr/>
        </p:nvSpPr>
        <p:spPr>
          <a:xfrm>
            <a:off x="4572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Tables</a:t>
            </a:r>
            <a:endParaRPr lang="en-US" sz="1600" dirty="0"/>
          </a:p>
        </p:txBody>
      </p:sp>
      <p:sp>
        <p:nvSpPr>
          <p:cNvPr id="6" name="Stat sub 1"/>
          <p:cNvSpPr txBox="1"/>
          <p:nvPr/>
        </p:nvSpPr>
        <p:spPr>
          <a:xfrm>
            <a:off x="45720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fleet to payments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2560320" y="1234440"/>
            <a:ext cx="192024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8" name="Stat value 2"/>
          <p:cNvSpPr txBox="1"/>
          <p:nvPr/>
        </p:nvSpPr>
        <p:spPr>
          <a:xfrm>
            <a:off x="256032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11</a:t>
            </a:r>
            <a:endParaRPr lang="en-US" sz="5400" dirty="0"/>
          </a:p>
        </p:txBody>
      </p:sp>
      <p:sp>
        <p:nvSpPr>
          <p:cNvPr id="9" name="Stat label 2"/>
          <p:cNvSpPr txBox="1"/>
          <p:nvPr/>
        </p:nvSpPr>
        <p:spPr>
          <a:xfrm>
            <a:off x="25603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Foreign keys</a:t>
            </a:r>
            <a:endParaRPr lang="en-US" sz="1600" dirty="0"/>
          </a:p>
        </p:txBody>
      </p:sp>
      <p:sp>
        <p:nvSpPr>
          <p:cNvPr id="10" name="Stat sub 2"/>
          <p:cNvSpPr txBox="1"/>
          <p:nvPr/>
        </p:nvSpPr>
        <p:spPr>
          <a:xfrm>
            <a:off x="256032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incl. 1 composite</a:t>
            </a:r>
            <a:endParaRPr lang="en-US" sz="1200" dirty="0"/>
          </a:p>
        </p:txBody>
      </p:sp>
      <p:sp>
        <p:nvSpPr>
          <p:cNvPr id="11" name="Stat card 3"/>
          <p:cNvSpPr/>
          <p:nvPr/>
        </p:nvSpPr>
        <p:spPr>
          <a:xfrm>
            <a:off x="4663440" y="1234440"/>
            <a:ext cx="192024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12" name="Stat value 3"/>
          <p:cNvSpPr txBox="1"/>
          <p:nvPr/>
        </p:nvSpPr>
        <p:spPr>
          <a:xfrm>
            <a:off x="466344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12</a:t>
            </a:r>
            <a:endParaRPr lang="en-US" sz="5400" dirty="0"/>
          </a:p>
        </p:txBody>
      </p:sp>
      <p:sp>
        <p:nvSpPr>
          <p:cNvPr id="13" name="Stat label 3"/>
          <p:cNvSpPr txBox="1"/>
          <p:nvPr/>
        </p:nvSpPr>
        <p:spPr>
          <a:xfrm>
            <a:off x="46634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CHECK rules</a:t>
            </a:r>
            <a:endParaRPr lang="en-US" sz="1600" dirty="0"/>
          </a:p>
        </p:txBody>
      </p:sp>
      <p:sp>
        <p:nvSpPr>
          <p:cNvPr id="14" name="Stat sub 3"/>
          <p:cNvSpPr txBox="1"/>
          <p:nvPr/>
        </p:nvSpPr>
        <p:spPr>
          <a:xfrm>
            <a:off x="466344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values and ranges</a:t>
            </a:r>
            <a:endParaRPr lang="en-US" sz="1200" dirty="0"/>
          </a:p>
        </p:txBody>
      </p:sp>
      <p:sp>
        <p:nvSpPr>
          <p:cNvPr id="15" name="Stat card 4"/>
          <p:cNvSpPr/>
          <p:nvPr/>
        </p:nvSpPr>
        <p:spPr>
          <a:xfrm>
            <a:off x="6766560" y="1234440"/>
            <a:ext cx="192024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/>
        </p:spPr>
      </p:sp>
      <p:sp>
        <p:nvSpPr>
          <p:cNvPr id="16" name="Stat value 4"/>
          <p:cNvSpPr txBox="1"/>
          <p:nvPr/>
        </p:nvSpPr>
        <p:spPr>
          <a:xfrm>
            <a:off x="676656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</a:t>
            </a:r>
            <a:endParaRPr lang="en-US" sz="5400" dirty="0"/>
          </a:p>
        </p:txBody>
      </p:sp>
      <p:sp>
        <p:nvSpPr>
          <p:cNvPr id="17" name="Stat label 4"/>
          <p:cNvSpPr txBox="1"/>
          <p:nvPr/>
        </p:nvSpPr>
        <p:spPr>
          <a:xfrm>
            <a:off x="676656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Unique rules</a:t>
            </a:r>
            <a:endParaRPr lang="en-US" sz="1600" dirty="0"/>
          </a:p>
        </p:txBody>
      </p:sp>
      <p:sp>
        <p:nvSpPr>
          <p:cNvPr id="18" name="Stat sub 4"/>
          <p:cNvSpPr txBox="1"/>
          <p:nvPr/>
        </p:nvSpPr>
        <p:spPr>
          <a:xfrm>
            <a:off x="6766560" y="2514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5 constraints + 1 index</a:t>
            </a:r>
            <a:endParaRPr lang="en-US" sz="1200" dirty="0"/>
          </a:p>
        </p:txBody>
      </p:sp>
      <p:sp>
        <p:nvSpPr>
          <p:cNvPr id="19" name="Callout Covers the full school-transport workflow"/>
          <p:cNvSpPr txBox="1"/>
          <p:nvPr/>
        </p:nvSpPr>
        <p:spPr>
          <a:xfrm>
            <a:off x="457200" y="3383280"/>
            <a:ext cx="822960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Covers the full school-transport workflow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Fleet and staff, routes and stops, student registration, fee plans, daily pickup logs, payments and bus maintenance. IDs are explicit so sample data is reproducible.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12 tables connect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120140" y="178308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 flipH="1" flipV="1">
            <a:off x="1920240" y="2263140"/>
            <a:ext cx="365760" cy="5715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H="1">
            <a:off x="1920240" y="2948940"/>
            <a:ext cx="36576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1920240" y="3063240"/>
            <a:ext cx="365760" cy="57150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3200400" y="2948940"/>
            <a:ext cx="4114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4274820" y="246888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937760" y="2948940"/>
            <a:ext cx="41148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6263640" y="246888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63640" y="3154680"/>
            <a:ext cx="0" cy="27432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>
            <a:off x="7178040" y="2468880"/>
            <a:ext cx="45720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 flipV="1">
            <a:off x="7178040" y="3063240"/>
            <a:ext cx="457200" cy="36576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ER MaintenanceRecord"/>
          <p:cNvSpPr txBox="1"/>
          <p:nvPr/>
        </p:nvSpPr>
        <p:spPr>
          <a:xfrm>
            <a:off x="320040" y="137160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MaintenanceRecord</a:t>
            </a:r>
            <a:endParaRPr lang="en-US" sz="1200" dirty="0"/>
          </a:p>
        </p:txBody>
      </p:sp>
      <p:sp>
        <p:nvSpPr>
          <p:cNvPr id="15" name="ER Bus"/>
          <p:cNvSpPr txBox="1"/>
          <p:nvPr/>
        </p:nvSpPr>
        <p:spPr>
          <a:xfrm>
            <a:off x="320040" y="205740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Bus</a:t>
            </a:r>
            <a:endParaRPr lang="en-US" sz="1200" dirty="0"/>
          </a:p>
        </p:txBody>
      </p:sp>
      <p:sp>
        <p:nvSpPr>
          <p:cNvPr id="16" name="ER Driver"/>
          <p:cNvSpPr txBox="1"/>
          <p:nvPr/>
        </p:nvSpPr>
        <p:spPr>
          <a:xfrm>
            <a:off x="320040" y="274320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Driver</a:t>
            </a:r>
            <a:endParaRPr lang="en-US" sz="1200" dirty="0"/>
          </a:p>
        </p:txBody>
      </p:sp>
      <p:sp>
        <p:nvSpPr>
          <p:cNvPr id="17" name="ER Attendant"/>
          <p:cNvSpPr txBox="1"/>
          <p:nvPr/>
        </p:nvSpPr>
        <p:spPr>
          <a:xfrm>
            <a:off x="320040" y="342900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Attendant</a:t>
            </a:r>
            <a:endParaRPr lang="en-US" sz="1200" dirty="0"/>
          </a:p>
        </p:txBody>
      </p:sp>
      <p:sp>
        <p:nvSpPr>
          <p:cNvPr id="18" name="ER Route"/>
          <p:cNvSpPr txBox="1"/>
          <p:nvPr/>
        </p:nvSpPr>
        <p:spPr>
          <a:xfrm>
            <a:off x="2286000" y="2743200"/>
            <a:ext cx="91440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Route</a:t>
            </a:r>
            <a:endParaRPr lang="en-US" sz="1200" dirty="0"/>
          </a:p>
        </p:txBody>
      </p:sp>
      <p:sp>
        <p:nvSpPr>
          <p:cNvPr id="19" name="ER Stop"/>
          <p:cNvSpPr txBox="1"/>
          <p:nvPr/>
        </p:nvSpPr>
        <p:spPr>
          <a:xfrm>
            <a:off x="3611880" y="2057400"/>
            <a:ext cx="132588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Stop</a:t>
            </a:r>
            <a:endParaRPr lang="en-US" sz="1200" dirty="0"/>
          </a:p>
        </p:txBody>
      </p:sp>
      <p:sp>
        <p:nvSpPr>
          <p:cNvPr id="20" name="ER RouteSequence"/>
          <p:cNvSpPr txBox="1"/>
          <p:nvPr/>
        </p:nvSpPr>
        <p:spPr>
          <a:xfrm>
            <a:off x="3611880" y="2743200"/>
            <a:ext cx="132588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RouteSequence</a:t>
            </a:r>
            <a:endParaRPr lang="en-US" sz="1200" dirty="0"/>
          </a:p>
        </p:txBody>
      </p:sp>
      <p:sp>
        <p:nvSpPr>
          <p:cNvPr id="21" name="ER Student"/>
          <p:cNvSpPr txBox="1"/>
          <p:nvPr/>
        </p:nvSpPr>
        <p:spPr>
          <a:xfrm>
            <a:off x="5349240" y="2057400"/>
            <a:ext cx="18288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Student</a:t>
            </a:r>
            <a:endParaRPr lang="en-US" sz="1200" dirty="0"/>
          </a:p>
        </p:txBody>
      </p:sp>
      <p:sp>
        <p:nvSpPr>
          <p:cNvPr id="22" name="ER TransportRegistration"/>
          <p:cNvSpPr txBox="1"/>
          <p:nvPr/>
        </p:nvSpPr>
        <p:spPr>
          <a:xfrm>
            <a:off x="5349240" y="2743200"/>
            <a:ext cx="18288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TransportRegistration</a:t>
            </a:r>
            <a:endParaRPr lang="en-US" sz="1200" dirty="0"/>
          </a:p>
        </p:txBody>
      </p:sp>
      <p:sp>
        <p:nvSpPr>
          <p:cNvPr id="23" name="ER FeePlan"/>
          <p:cNvSpPr txBox="1"/>
          <p:nvPr/>
        </p:nvSpPr>
        <p:spPr>
          <a:xfrm>
            <a:off x="5349240" y="3429000"/>
            <a:ext cx="18288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FeePlan</a:t>
            </a:r>
            <a:endParaRPr lang="en-US" sz="1200" dirty="0"/>
          </a:p>
        </p:txBody>
      </p:sp>
      <p:sp>
        <p:nvSpPr>
          <p:cNvPr id="24" name="ER PickupLog"/>
          <p:cNvSpPr txBox="1"/>
          <p:nvPr/>
        </p:nvSpPr>
        <p:spPr>
          <a:xfrm>
            <a:off x="7635240" y="2194560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PickupLog</a:t>
            </a:r>
            <a:endParaRPr lang="en-US" sz="1200" dirty="0"/>
          </a:p>
        </p:txBody>
      </p:sp>
      <p:sp>
        <p:nvSpPr>
          <p:cNvPr id="25" name="ER Payment"/>
          <p:cNvSpPr txBox="1"/>
          <p:nvPr/>
        </p:nvSpPr>
        <p:spPr>
          <a:xfrm>
            <a:off x="7635240" y="3291840"/>
            <a:ext cx="114300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Payment</a:t>
            </a:r>
            <a:endParaRPr lang="en-US" sz="1200" dirty="0"/>
          </a:p>
        </p:txBody>
      </p:sp>
      <p:sp>
        <p:nvSpPr>
          <p:cNvPr id="26" name="Legend swatch 1"/>
          <p:cNvSpPr/>
          <p:nvPr/>
        </p:nvSpPr>
        <p:spPr>
          <a:xfrm>
            <a:off x="457200" y="42062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27" name="Legend label 1"/>
          <p:cNvSpPr txBox="1"/>
          <p:nvPr/>
        </p:nvSpPr>
        <p:spPr>
          <a:xfrm>
            <a:off x="749808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Fleet &amp; staff</a:t>
            </a:r>
            <a:endParaRPr lang="en-US" sz="1200" dirty="0"/>
          </a:p>
        </p:txBody>
      </p:sp>
      <p:sp>
        <p:nvSpPr>
          <p:cNvPr id="28" name="Legend swatch 2"/>
          <p:cNvSpPr/>
          <p:nvPr/>
        </p:nvSpPr>
        <p:spPr>
          <a:xfrm>
            <a:off x="2560320" y="42062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29" name="Legend label 2"/>
          <p:cNvSpPr txBox="1"/>
          <p:nvPr/>
        </p:nvSpPr>
        <p:spPr>
          <a:xfrm>
            <a:off x="2852928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Routes &amp; stops</a:t>
            </a:r>
            <a:endParaRPr lang="en-US" sz="1200" dirty="0"/>
          </a:p>
        </p:txBody>
      </p:sp>
      <p:sp>
        <p:nvSpPr>
          <p:cNvPr id="30" name="Legend swatch 3"/>
          <p:cNvSpPr/>
          <p:nvPr/>
        </p:nvSpPr>
        <p:spPr>
          <a:xfrm>
            <a:off x="4663440" y="42062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31" name="Legend label 3"/>
          <p:cNvSpPr txBox="1"/>
          <p:nvPr/>
        </p:nvSpPr>
        <p:spPr>
          <a:xfrm>
            <a:off x="4956048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Students &amp; fees</a:t>
            </a:r>
            <a:endParaRPr lang="en-US" sz="1200" dirty="0"/>
          </a:p>
        </p:txBody>
      </p:sp>
      <p:sp>
        <p:nvSpPr>
          <p:cNvPr id="32" name="Legend swatch 4"/>
          <p:cNvSpPr/>
          <p:nvPr/>
        </p:nvSpPr>
        <p:spPr>
          <a:xfrm>
            <a:off x="6766560" y="420624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33" name="Legend label 4"/>
          <p:cNvSpPr txBox="1"/>
          <p:nvPr/>
        </p:nvSpPr>
        <p:spPr>
          <a:xfrm>
            <a:off x="7059168" y="41605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Daily operations</a:t>
            </a:r>
            <a:endParaRPr lang="en-US" sz="1200" dirty="0"/>
          </a:p>
        </p:txBody>
      </p:sp>
      <p:sp>
        <p:nvSpPr>
          <p:cNvPr id="34" name="ER note"/>
          <p:cNvSpPr txBox="1"/>
          <p:nvPr/>
        </p:nvSpPr>
        <p:spPr>
          <a:xfrm>
            <a:off x="45720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Arrows run from the child table (holds the foreign key) to its parent.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Fleet and maintenance</a:t>
            </a:r>
            <a:endParaRPr lang="en-US" sz="3400" dirty="0"/>
          </a:p>
        </p:txBody>
      </p:sp>
      <p:sp>
        <p:nvSpPr>
          <p:cNvPr id="3" name="Header Bus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Bus</a:t>
            </a:r>
            <a:endParaRPr lang="en-US" sz="1400" dirty="0"/>
          </a:p>
        </p:txBody>
      </p:sp>
      <p:graphicFrame>
        <p:nvGraphicFramePr>
          <p:cNvPr id="5" name="Table B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bus_id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number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capacity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1 to 60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VARCHAR(80)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VARCHAR(12)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ACTIVE / SERVICE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Header MaintenanceRecord"/>
          <p:cNvSpPr txBox="1"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MaintenanceRecord</a:t>
            </a:r>
            <a:endParaRPr lang="en-US" sz="1400" dirty="0"/>
          </a:p>
        </p:txBody>
      </p:sp>
      <p:graphicFrame>
        <p:nvGraphicFramePr>
          <p:cNvPr id="9" name="Table MaintenanceRecor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maint_id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bus_id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→ Bus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service_date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VARCHAR(200)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cost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NUMERIC(10,2)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≥ 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next_due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allout note"/>
          <p:cNvSpPr txBox="1"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bus has many maintenance records. Capacity is capped at 60 seats and status is limited to ACTIVE or SERVICE.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Crew and route assignment</a:t>
            </a:r>
            <a:endParaRPr lang="en-US" sz="3400" dirty="0"/>
          </a:p>
        </p:txBody>
      </p:sp>
      <p:sp>
        <p:nvSpPr>
          <p:cNvPr id="3" name="Header Driver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Driver</a:t>
            </a:r>
            <a:endParaRPr lang="en-US" sz="1400" dirty="0"/>
          </a:p>
        </p:txBody>
      </p:sp>
      <p:graphicFrame>
        <p:nvGraphicFramePr>
          <p:cNvPr id="6" name="Table Driv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driver_id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VARCHAR(80)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license_no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VARCHAR(15)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UNIQUE + format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phone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VARCHAR(15)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Header Attendant"/>
          <p:cNvSpPr txBox="1"/>
          <p:nvPr/>
        </p:nvSpPr>
        <p:spPr>
          <a:xfrm>
            <a:off x="457200" y="3063240"/>
            <a:ext cx="4023360" cy="36576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Attendant</a:t>
            </a:r>
            <a:endParaRPr lang="en-US" sz="1400" dirty="0"/>
          </a:p>
        </p:txBody>
      </p:sp>
      <p:graphicFrame>
        <p:nvGraphicFramePr>
          <p:cNvPr id="11" name="Table Attenda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attendant_id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VARCHAR(80)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phone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VARCHAR(15)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Header Route"/>
          <p:cNvSpPr txBox="1"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</a:t>
            </a:r>
            <a:endParaRPr lang="en-US" sz="1400" dirty="0"/>
          </a:p>
        </p:txBody>
      </p:sp>
      <p:graphicFrame>
        <p:nvGraphicFramePr>
          <p:cNvPr id="16" name="Table Rou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route_id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route_name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VARCHAR(100)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bus_id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→ Bus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driver_id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→ Driver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attendant_id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→ Attendant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shift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VARCHAR(10)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MORNING / AFTERNOON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9" name="Callout One route, one crew"/>
          <p:cNvSpPr txBox="1"/>
          <p:nvPr/>
        </p:nvSpPr>
        <p:spPr>
          <a:xfrm>
            <a:off x="4663440" y="374904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One route, one crew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bus, driver and attendant per route, in a single shift.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Stops and route sequencing</a:t>
            </a:r>
            <a:endParaRPr lang="en-US" sz="3400" dirty="0"/>
          </a:p>
        </p:txBody>
      </p:sp>
      <p:sp>
        <p:nvSpPr>
          <p:cNvPr id="3" name="Header Stop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Stop</a:t>
            </a:r>
            <a:endParaRPr lang="en-US" sz="1400" dirty="0"/>
          </a:p>
        </p:txBody>
      </p:sp>
      <p:graphicFrame>
        <p:nvGraphicFramePr>
          <p:cNvPr id="7" name="Table Sto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stop_id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stop_name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VARCHAR(100)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latitude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NUMERIC(9,6)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-90 to 90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longitude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NUMERIC(9,6)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-180 to 180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Header RouteSequence"/>
          <p:cNvSpPr txBox="1"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solidFill>
            <a:schemeClr val="accent3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RouteSequence</a:t>
            </a:r>
            <a:endParaRPr lang="en-US" sz="1400" dirty="0"/>
          </a:p>
        </p:txBody>
      </p:sp>
      <p:graphicFrame>
        <p:nvGraphicFramePr>
          <p:cNvPr id="13" name="Table RouteSequen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route_id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PK, FK → Route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stop_id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PK, FK → Stop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seq_no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&gt; 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scheduled_time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allout Valid coordinates"/>
          <p:cNvSpPr txBox="1"/>
          <p:nvPr/>
        </p:nvSpPr>
        <p:spPr>
          <a:xfrm>
            <a:off x="457200" y="3200400"/>
            <a:ext cx="40233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Valid coordinates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Latitude stays within -90 to 90 and longitude within -180 to 180.</a:t>
            </a:r>
            <a:endParaRPr lang="en-US" sz="1600" dirty="0"/>
          </a:p>
        </p:txBody>
      </p:sp>
      <p:sp>
        <p:nvSpPr>
          <p:cNvPr id="8" name="Callout Ordered, no duplicates"/>
          <p:cNvSpPr txBox="1"/>
          <p:nvPr/>
        </p:nvSpPr>
        <p:spPr>
          <a:xfrm>
            <a:off x="4663440" y="3200400"/>
            <a:ext cx="40233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Ordered, no duplicates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stop appears once per route, and each position number is used once per route (UNIQUE route_id, seq_no).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Students and fee plans</a:t>
            </a:r>
            <a:endParaRPr lang="en-US" sz="3400" dirty="0"/>
          </a:p>
        </p:txBody>
      </p:sp>
      <p:sp>
        <p:nvSpPr>
          <p:cNvPr id="3" name="Header Student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Student</a:t>
            </a:r>
            <a:endParaRPr lang="en-US" sz="1400" dirty="0"/>
          </a:p>
        </p:txBody>
      </p:sp>
      <p:graphicFrame>
        <p:nvGraphicFramePr>
          <p:cNvPr id="8" name="Table Stud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student_id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VARCHAR(80)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VARCHAR(8)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guardian_name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VARCHAR(80)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Header FeePlan"/>
          <p:cNvSpPr txBox="1"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FeePlan</a:t>
            </a:r>
            <a:endParaRPr lang="en-US" sz="1400" dirty="0"/>
          </a:p>
        </p:txBody>
      </p:sp>
      <p:graphicFrame>
        <p:nvGraphicFramePr>
          <p:cNvPr id="15" name="Table Fee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plan_id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term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NUMERIC(10,2)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&gt; 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academic_year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VARCHAR(9)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allout Who rides"/>
          <p:cNvSpPr txBox="1"/>
          <p:nvPr/>
        </p:nvSpPr>
        <p:spPr>
          <a:xfrm>
            <a:off x="457200" y="3383280"/>
            <a:ext cx="40233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Who rides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Class, section and guardian are stored here; transport details live in registrations.</a:t>
            </a:r>
            <a:endParaRPr lang="en-US" sz="1600" dirty="0"/>
          </a:p>
        </p:txBody>
      </p:sp>
      <p:sp>
        <p:nvSpPr>
          <p:cNvPr id="8" name="Callout What it costs"/>
          <p:cNvSpPr txBox="1"/>
          <p:nvPr/>
        </p:nvSpPr>
        <p:spPr>
          <a:xfrm>
            <a:off x="4663440" y="3383280"/>
            <a:ext cx="40233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costs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plan is defined by term, amount and academic year. Amounts must be above zero.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Transport registration</a:t>
            </a:r>
            <a:endParaRPr lang="en-US" sz="3400" dirty="0"/>
          </a:p>
        </p:txBody>
      </p:sp>
      <p:sp>
        <p:nvSpPr>
          <p:cNvPr id="3" name="Header TransportRegistration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TransportRegistration</a:t>
            </a:r>
            <a:endParaRPr lang="en-US" sz="1400" dirty="0"/>
          </a:p>
        </p:txBody>
      </p:sp>
      <p:graphicFrame>
        <p:nvGraphicFramePr>
          <p:cNvPr id="9" name="Table TransportRegistrati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reg_id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student_id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→ Student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route_id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(route, stop)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stop_id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(route, stop)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plan_id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→ FeePlan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start_date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VARCHAR(10)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ACTIVE / INACTIVE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Index SQL"/>
          <p:cNvSpPr txBox="1"/>
          <p:nvPr/>
        </p:nvSpPr>
        <p:spPr>
          <a:xfrm>
            <a:off x="457200" y="388620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/>
        </p:spPr>
        <p:txBody>
          <a:bodyPr wrap="square" lIns="137160" tIns="137160" rIns="137160" bIns="13716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one_active_assignment_per_student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TransportRegistration(student_id)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'ACTIVE';</a:t>
            </a:r>
            <a:endParaRPr lang="en-US" sz="1050" dirty="0"/>
          </a:p>
        </p:txBody>
      </p:sp>
      <p:sp>
        <p:nvSpPr>
          <p:cNvPr id="6" name="Callout Valid stops only"/>
          <p:cNvSpPr txBox="1"/>
          <p:nvPr/>
        </p:nvSpPr>
        <p:spPr>
          <a:xfrm>
            <a:off x="4663440" y="114300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Valid stops only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(route_id, stop_id) pair must exist in RouteSequence.</a:t>
            </a:r>
            <a:endParaRPr lang="en-US" sz="1600" dirty="0"/>
          </a:p>
        </p:txBody>
      </p:sp>
      <p:sp>
        <p:nvSpPr>
          <p:cNvPr id="7" name="Callout One active ride"/>
          <p:cNvSpPr txBox="1"/>
          <p:nvPr/>
        </p:nvSpPr>
        <p:spPr>
          <a:xfrm>
            <a:off x="4663440" y="237744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One active ride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partial unique index allows one ACTIVE registration per student.</a:t>
            </a:r>
            <a:endParaRPr lang="en-US" sz="1600" dirty="0"/>
          </a:p>
        </p:txBody>
      </p:sp>
      <p:sp>
        <p:nvSpPr>
          <p:cNvPr id="8" name="Callout Linked to a fee plan"/>
          <p:cNvSpPr txBox="1"/>
          <p:nvPr/>
        </p:nvSpPr>
        <p:spPr>
          <a:xfrm>
            <a:off x="4663440" y="3611880"/>
            <a:ext cx="4023360" cy="1051560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Linked to a fee plan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registration points to one plan and a start date.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Daily pickups and payments</a:t>
            </a:r>
            <a:endParaRPr lang="en-US" sz="3400" dirty="0"/>
          </a:p>
        </p:txBody>
      </p:sp>
      <p:sp>
        <p:nvSpPr>
          <p:cNvPr id="3" name="Header PickupLog"/>
          <p:cNvSpPr txBox="1"/>
          <p:nvPr/>
        </p:nvSpPr>
        <p:spPr>
          <a:xfrm>
            <a:off x="457200" y="1143000"/>
            <a:ext cx="4023360" cy="36576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PickupLog</a:t>
            </a:r>
            <a:endParaRPr lang="en-US" sz="1400" dirty="0"/>
          </a:p>
        </p:txBody>
      </p:sp>
      <p:graphicFrame>
        <p:nvGraphicFramePr>
          <p:cNvPr id="10" name="Table PickupLo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log_id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reg_id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→ Registration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trip_date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event_type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VARCHAR(8)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PICKUP / DROP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event_time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Header Payment"/>
          <p:cNvSpPr txBox="1"/>
          <p:nvPr/>
        </p:nvSpPr>
        <p:spPr>
          <a:xfrm>
            <a:off x="4663440" y="1143000"/>
            <a:ext cx="4023360" cy="365760"/>
          </a:xfrm>
          <a:prstGeom prst="rect">
            <a:avLst/>
          </a:prstGeom>
          <a:solidFill>
            <a:schemeClr val="accent6"/>
          </a:solidFill>
          <a:ln/>
        </p:spPr>
        <p:txBody>
          <a:bodyPr wrap="square" lIns="109728" tIns="109728" rIns="109728" bIns="10972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Payment</a:t>
            </a:r>
            <a:endParaRPr lang="en-US" sz="1400" dirty="0"/>
          </a:p>
        </p:txBody>
      </p:sp>
      <p:graphicFrame>
        <p:nvGraphicFramePr>
          <p:cNvPr id="19" name="Table Paymen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08760"/>
          <a:ext cx="4023360" cy="914400"/>
        </p:xfrm>
        <a:graphic>
          <a:graphicData uri="http://schemas.openxmlformats.org/drawingml/2006/table">
            <a:tbl>
              <a:tblPr/>
              <a:tblGrid>
                <a:gridCol w="1287475"/>
                <a:gridCol w="1126541"/>
                <a:gridCol w="160934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Column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payment_id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reg_id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FK → Registration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paid_on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NOT 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NUMERIC(10,2)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CHECK &gt; 0, ≤ 50,000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receipt_no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VARCHAR(30)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UNIQUE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Callout One event per day"/>
          <p:cNvSpPr txBox="1"/>
          <p:nvPr/>
        </p:nvSpPr>
        <p:spPr>
          <a:xfrm>
            <a:off x="457200" y="324612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One event per day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registration can log at most one PICKUP and one DROP per trip date.</a:t>
            </a:r>
            <a:endParaRPr lang="en-US" sz="1600" dirty="0"/>
          </a:p>
        </p:txBody>
      </p:sp>
      <p:sp>
        <p:nvSpPr>
          <p:cNvPr id="8" name="Callout Traceable receipts"/>
          <p:cNvSpPr txBox="1"/>
          <p:nvPr/>
        </p:nvSpPr>
        <p:spPr>
          <a:xfrm>
            <a:off x="4663440" y="3246120"/>
            <a:ext cx="40233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/>
        </p:spPr>
        <p:txBody>
          <a:bodyPr wrap="square" lIns="182880" tIns="182880" rIns="182880" bIns="18288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Traceable receipts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payment carries a unique receipt number and is tied to a registration.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Integrity rules at a glance</a:t>
            </a:r>
            <a:endParaRPr lang="en-US" sz="3400" dirty="0"/>
          </a:p>
        </p:txBody>
      </p:sp>
      <p:graphicFrame>
        <p:nvGraphicFramePr>
          <p:cNvPr id="11" name="Ru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Where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Effect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Seat limit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Bus.capacity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to 60 seats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Status values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Bus, TransportRegistration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ACTIVE / SERVICE; ACTIVE / INACTIVE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License format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Driver.license_no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 letters + 13 digits, unique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Shift values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Route.shift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MORNING or AFTERNOON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Coordinate bounds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Stop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Latitude ±90, longitude ±180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Stop order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RouteSequence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seq_no &gt; 0, unique per route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Money checks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FeePlan, Payment, MaintenanceRecord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Amount &gt; 0; payment ≤ 50,000; cost ≥ 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Daily event log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PickupLog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One PICKUP and one DROP per day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Single active ride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TransportRegistration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Partial unique index on student_id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The live website: hero</a:t>
            </a:r>
            <a:endParaRPr lang="en-US" sz="3400" dirty="0"/>
          </a:p>
        </p:txBody>
      </p:sp>
      <p:pic>
        <p:nvPicPr>
          <p:cNvPr id="3" name="Screenshot 01" descr="Landing page: Bus No. 43 waiting at Civil Li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3873"/>
            <a:ext cx="4023360" cy="2552893"/>
          </a:xfrm>
          <a:prstGeom prst="rect">
            <a:avLst/>
          </a:prstGeom>
        </p:spPr>
      </p:pic>
      <p:sp>
        <p:nvSpPr>
          <p:cNvPr id="4" name="Caption 01"/>
          <p:cNvSpPr txBox="1"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Landing page: Bus No. 43 waiting at Civil Lines</a:t>
            </a:r>
            <a:endParaRPr lang="en-US" sz="1200" dirty="0"/>
          </a:p>
        </p:txBody>
      </p:sp>
      <p:pic>
        <p:nvPicPr>
          <p:cNvPr id="5" name="Screenshot 02" descr="Demo trip finished: 5/5 checkpoints, 33/33 board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97261"/>
            <a:ext cx="4023360" cy="2526117"/>
          </a:xfrm>
          <a:prstGeom prst="rect">
            <a:avLst/>
          </a:prstGeom>
        </p:spPr>
      </p:pic>
      <p:sp>
        <p:nvSpPr>
          <p:cNvPr id="6" name="Caption 02"/>
          <p:cNvSpPr txBox="1"/>
          <p:nvPr/>
        </p:nvSpPr>
        <p:spPr>
          <a:xfrm>
            <a:off x="46634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Demo trip finished: 5/5 checkpoints, 33/33 boarded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System overview</a:t>
            </a:r>
            <a:endParaRPr lang="en-US" sz="3400" dirty="0"/>
          </a:p>
        </p:txBody>
      </p:sp>
      <p:pic>
        <p:nvPicPr>
          <p:cNvPr id="3" name="Screenshot 03" descr="Eight entity groups carry the ope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70719"/>
            <a:ext cx="4023360" cy="1779201"/>
          </a:xfrm>
          <a:prstGeom prst="rect">
            <a:avLst/>
          </a:prstGeom>
        </p:spPr>
      </p:pic>
      <p:sp>
        <p:nvSpPr>
          <p:cNvPr id="4" name="Caption 03"/>
          <p:cNvSpPr txBox="1"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Eight entity groups carry the operation</a:t>
            </a:r>
            <a:endParaRPr lang="en-US" sz="1200" dirty="0"/>
          </a:p>
        </p:txBody>
      </p:sp>
      <p:pic>
        <p:nvPicPr>
          <p:cNvPr id="5" name="Screenshot 04" descr="Relationship map between the entiti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57672"/>
            <a:ext cx="4023360" cy="2205296"/>
          </a:xfrm>
          <a:prstGeom prst="rect">
            <a:avLst/>
          </a:prstGeom>
        </p:spPr>
      </p:pic>
      <p:sp>
        <p:nvSpPr>
          <p:cNvPr id="6" name="Caption 04"/>
          <p:cNvSpPr txBox="1"/>
          <p:nvPr/>
        </p:nvSpPr>
        <p:spPr>
          <a:xfrm>
            <a:off x="46634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Relationship map between the entities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Live route demo</a:t>
            </a:r>
            <a:endParaRPr lang="en-US" sz="3400" dirty="0"/>
          </a:p>
        </p:txBody>
      </p:sp>
      <p:pic>
        <p:nvPicPr>
          <p:cNvPr id="3" name="Screenshot 05" descr="Bus No. 43 route on a Raipur street map with scheduled stop ti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246" y="1097280"/>
            <a:ext cx="4791508" cy="3200400"/>
          </a:xfrm>
          <a:prstGeom prst="rect">
            <a:avLst/>
          </a:prstGeom>
        </p:spPr>
      </p:pic>
      <p:sp>
        <p:nvSpPr>
          <p:cNvPr id="4" name="Caption 05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Bus No. 43 route on a Raipur street map with scheduled stop times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Review 2: implementation and queries</a:t>
            </a:r>
            <a:endParaRPr lang="en-US" sz="3400" dirty="0"/>
          </a:p>
        </p:txBody>
      </p:sp>
      <p:pic>
        <p:nvPicPr>
          <p:cNvPr id="3" name="Screenshot 06" descr="From dependencies to 3NF: 12 relations, 6 SQL repor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846" y="1097280"/>
            <a:ext cx="5658307" cy="3200400"/>
          </a:xfrm>
          <a:prstGeom prst="rect">
            <a:avLst/>
          </a:prstGeom>
        </p:spPr>
      </p:pic>
      <p:sp>
        <p:nvSpPr>
          <p:cNvPr id="4" name="Caption 06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From dependencies to 3NF: 12 relations, 6 SQL reports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Functional dependencies</a:t>
            </a:r>
            <a:endParaRPr lang="en-US" sz="3400" dirty="0"/>
          </a:p>
        </p:txBody>
      </p:sp>
      <p:pic>
        <p:nvPicPr>
          <p:cNvPr id="3" name="Screenshot 07" descr="Dependencies and candidate keys per rel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3663"/>
            <a:ext cx="4023360" cy="2473313"/>
          </a:xfrm>
          <a:prstGeom prst="rect">
            <a:avLst/>
          </a:prstGeom>
        </p:spPr>
      </p:pic>
      <p:sp>
        <p:nvSpPr>
          <p:cNvPr id="4" name="Caption 07"/>
          <p:cNvSpPr txBox="1"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Dependencies and candidate keys per relation</a:t>
            </a:r>
            <a:endParaRPr lang="en-US" sz="1200" dirty="0"/>
          </a:p>
        </p:txBody>
      </p:sp>
      <p:pic>
        <p:nvPicPr>
          <p:cNvPr id="5" name="Screenshot 08" descr="Lossless join and dependency preservation not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754025"/>
            <a:ext cx="4023360" cy="1612591"/>
          </a:xfrm>
          <a:prstGeom prst="rect">
            <a:avLst/>
          </a:prstGeom>
        </p:spPr>
      </p:pic>
      <p:sp>
        <p:nvSpPr>
          <p:cNvPr id="6" name="Caption 08"/>
          <p:cNvSpPr txBox="1"/>
          <p:nvPr/>
        </p:nvSpPr>
        <p:spPr>
          <a:xfrm>
            <a:off x="46634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Lossless join and dependency preservation notes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Data dictionary</a:t>
            </a:r>
            <a:endParaRPr lang="en-US" sz="3400" dirty="0"/>
          </a:p>
        </p:txBody>
      </p:sp>
      <p:pic>
        <p:nvPicPr>
          <p:cNvPr id="3" name="Screenshot 09" descr="Searchable dictionary covering all 58 attribu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1982"/>
            <a:ext cx="4023360" cy="2336675"/>
          </a:xfrm>
          <a:prstGeom prst="rect">
            <a:avLst/>
          </a:prstGeom>
        </p:spPr>
      </p:pic>
      <p:sp>
        <p:nvSpPr>
          <p:cNvPr id="4" name="Caption 09"/>
          <p:cNvSpPr txBox="1"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Searchable dictionary covering all 58 attributes</a:t>
            </a:r>
            <a:endParaRPr lang="en-US" sz="1200" dirty="0"/>
          </a:p>
        </p:txBody>
      </p:sp>
      <p:pic>
        <p:nvPicPr>
          <p:cNvPr id="5" name="Screenshot 10" descr="Types, keys and constraints through MaintenanceReco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8408"/>
            <a:ext cx="4023360" cy="2283824"/>
          </a:xfrm>
          <a:prstGeom prst="rect">
            <a:avLst/>
          </a:prstGeom>
        </p:spPr>
      </p:pic>
      <p:sp>
        <p:nvSpPr>
          <p:cNvPr id="6" name="Caption 10"/>
          <p:cNvSpPr txBox="1"/>
          <p:nvPr/>
        </p:nvSpPr>
        <p:spPr>
          <a:xfrm>
            <a:off x="46634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Types, keys and constraints through MaintenanceRecord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DDL scripts and constraints</a:t>
            </a:r>
            <a:endParaRPr lang="en-US" sz="3400" dirty="0"/>
          </a:p>
        </p:txBody>
      </p:sp>
      <p:pic>
        <p:nvPicPr>
          <p:cNvPr id="3" name="Screenshot 11" descr="Five key integrity rules, each shown with its SQ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31018"/>
            <a:ext cx="8229600" cy="3132924"/>
          </a:xfrm>
          <a:prstGeom prst="rect">
            <a:avLst/>
          </a:prstGeom>
        </p:spPr>
      </p:pic>
      <p:sp>
        <p:nvSpPr>
          <p:cNvPr id="4" name="Caption 11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Five key integrity rules, each shown with its SQL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SQL query lab</a:t>
            </a:r>
            <a:endParaRPr lang="en-US" sz="3400" dirty="0"/>
          </a:p>
        </p:txBody>
      </p:sp>
      <p:pic>
        <p:nvPicPr>
          <p:cNvPr id="3" name="Screenshot 12" descr="Run the report queries in the browser against the sample da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3079" y="1097280"/>
            <a:ext cx="4917842" cy="3200400"/>
          </a:xfrm>
          <a:prstGeom prst="rect">
            <a:avLst/>
          </a:prstGeom>
        </p:spPr>
      </p:pic>
      <p:sp>
        <p:nvSpPr>
          <p:cNvPr id="4" name="Caption 12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Run the report queries in the browser against the sample data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Database prototype</a:t>
            </a:r>
            <a:endParaRPr lang="en-US" sz="3400" dirty="0"/>
          </a:p>
        </p:txBody>
      </p:sp>
      <p:pic>
        <p:nvPicPr>
          <p:cNvPr id="3" name="Screenshot 13" descr="Live table explorer for all 12 t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8021"/>
            <a:ext cx="4023360" cy="2644598"/>
          </a:xfrm>
          <a:prstGeom prst="rect">
            <a:avLst/>
          </a:prstGeom>
        </p:spPr>
      </p:pic>
      <p:sp>
        <p:nvSpPr>
          <p:cNvPr id="4" name="Caption 13"/>
          <p:cNvSpPr txBox="1"/>
          <p:nvPr/>
        </p:nvSpPr>
        <p:spPr>
          <a:xfrm>
            <a:off x="45720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Live table explorer for all 12 tables</a:t>
            </a:r>
            <a:endParaRPr lang="en-US" sz="1200" dirty="0"/>
          </a:p>
        </p:txBody>
      </p:sp>
      <p:pic>
        <p:nvPicPr>
          <p:cNvPr id="5" name="Screenshot 14" descr="Try a constraint: test inserts against the integrity ru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59170"/>
            <a:ext cx="4023360" cy="2602300"/>
          </a:xfrm>
          <a:prstGeom prst="rect">
            <a:avLst/>
          </a:prstGeom>
        </p:spPr>
      </p:pic>
      <p:sp>
        <p:nvSpPr>
          <p:cNvPr id="6" name="Caption 14"/>
          <p:cNvSpPr txBox="1"/>
          <p:nvPr/>
        </p:nvSpPr>
        <p:spPr>
          <a:xfrm>
            <a:off x="46634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Try a constraint: test inserts against the integrity rules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Design takeaways</a:t>
            </a:r>
            <a:endParaRPr lang="en-US" sz="3400" dirty="0"/>
          </a:p>
        </p:txBody>
      </p:sp>
      <p:sp>
        <p:nvSpPr>
          <p:cNvPr id="3" name="Takeaway card 1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4" name="Takeaway number 1"/>
          <p:cNvSpPr txBox="1"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akeaway heading 1"/>
          <p:cNvSpPr txBox="1"/>
          <p:nvPr/>
        </p:nvSpPr>
        <p:spPr>
          <a:xfrm>
            <a:off x="1325880" y="1417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Focused tables</a:t>
            </a:r>
            <a:endParaRPr lang="en-US" sz="1800" dirty="0"/>
          </a:p>
        </p:txBody>
      </p:sp>
      <p:sp>
        <p:nvSpPr>
          <p:cNvPr id="6" name="Takeaway body 1"/>
          <p:cNvSpPr txBox="1"/>
          <p:nvPr/>
        </p:nvSpPr>
        <p:spPr>
          <a:xfrm>
            <a:off x="1325880" y="1828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12 tables linked by 11 foreign keys keep fleet, routes, students and fees separate.</a:t>
            </a:r>
            <a:endParaRPr lang="en-US" sz="1400" dirty="0"/>
          </a:p>
        </p:txBody>
      </p:sp>
      <p:sp>
        <p:nvSpPr>
          <p:cNvPr id="7" name="Takeaway card 2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8" name="Takeaway number 2"/>
          <p:cNvSpPr txBox="1"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akeaway heading 2"/>
          <p:cNvSpPr txBox="1"/>
          <p:nvPr/>
        </p:nvSpPr>
        <p:spPr>
          <a:xfrm>
            <a:off x="5532120" y="1417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Safe registrations</a:t>
            </a:r>
            <a:endParaRPr lang="en-US" sz="1800" dirty="0"/>
          </a:p>
        </p:txBody>
      </p:sp>
      <p:sp>
        <p:nvSpPr>
          <p:cNvPr id="10" name="Takeaway body 2"/>
          <p:cNvSpPr txBox="1"/>
          <p:nvPr/>
        </p:nvSpPr>
        <p:spPr>
          <a:xfrm>
            <a:off x="5532120" y="18288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 composite key ties each student to a stop that really exists on the route.</a:t>
            </a:r>
            <a:endParaRPr lang="en-US" sz="1400" dirty="0"/>
          </a:p>
        </p:txBody>
      </p:sp>
      <p:sp>
        <p:nvSpPr>
          <p:cNvPr id="11" name="Takeaway card 3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12" name="Takeaway number 3"/>
          <p:cNvSpPr txBox="1"/>
          <p:nvPr/>
        </p:nvSpPr>
        <p:spPr>
          <a:xfrm>
            <a:off x="68580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akeaway heading 3"/>
          <p:cNvSpPr txBox="1"/>
          <p:nvPr/>
        </p:nvSpPr>
        <p:spPr>
          <a:xfrm>
            <a:off x="132588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Rules in the database</a:t>
            </a:r>
            <a:endParaRPr lang="en-US" sz="1800" dirty="0"/>
          </a:p>
        </p:txBody>
      </p:sp>
      <p:sp>
        <p:nvSpPr>
          <p:cNvPr id="14" name="Takeaway body 3"/>
          <p:cNvSpPr txBox="1"/>
          <p:nvPr/>
        </p:nvSpPr>
        <p:spPr>
          <a:xfrm>
            <a:off x="132588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12 CHECKs, 5 UNIQUE constraints and a partial index guard the data.</a:t>
            </a:r>
            <a:endParaRPr lang="en-US" sz="1400" dirty="0"/>
          </a:p>
        </p:txBody>
      </p:sp>
      <p:sp>
        <p:nvSpPr>
          <p:cNvPr id="15" name="Takeaway card 4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tx2"/>
          </a:solidFill>
          <a:ln/>
        </p:spPr>
      </p:sp>
      <p:sp>
        <p:nvSpPr>
          <p:cNvPr id="16" name="Takeaway number 4"/>
          <p:cNvSpPr txBox="1"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akeaway heading 4"/>
          <p:cNvSpPr txBox="1"/>
          <p:nvPr/>
        </p:nvSpPr>
        <p:spPr>
          <a:xfrm>
            <a:off x="5532120" y="31546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Full history</a:t>
            </a:r>
            <a:endParaRPr lang="en-US" sz="1800" dirty="0"/>
          </a:p>
        </p:txBody>
      </p:sp>
      <p:sp>
        <p:nvSpPr>
          <p:cNvPr id="18" name="Takeaway body 4"/>
          <p:cNvSpPr txBox="1"/>
          <p:nvPr/>
        </p:nvSpPr>
        <p:spPr>
          <a:xfrm>
            <a:off x="5532120" y="35661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Pickups, payments and maintenance are all recorded for reporting.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hool Bus">
  <a:themeElements>
    <a:clrScheme name="School Bus">
      <a:dk1>
        <a:srgbClr val="1B2430"/>
      </a:dk1>
      <a:lt1>
        <a:srgbClr val="FFFFFF"/>
      </a:lt1>
      <a:dk2>
        <a:srgbClr val="2F3E52"/>
      </a:dk2>
      <a:lt2>
        <a:srgbClr val="F1F4F8"/>
      </a:lt2>
      <a:accent1>
        <a:srgbClr val="F5B800"/>
      </a:accent1>
      <a:accent2>
        <a:srgbClr val="2E8B72"/>
      </a:accent2>
      <a:accent3>
        <a:srgbClr val="3A6EA5"/>
      </a:accent3>
      <a:accent4>
        <a:srgbClr val="D9534F"/>
      </a:accent4>
      <a:accent5>
        <a:srgbClr val="8A94A6"/>
      </a:accent5>
      <a:accent6>
        <a:srgbClr val="7A57B5"/>
      </a:accent6>
      <a:hlink>
        <a:srgbClr val="3A6EA5"/>
      </a:hlink>
      <a:folHlink>
        <a:srgbClr val="7A57B5"/>
      </a:folHlink>
    </a:clrScheme>
    <a:fontScheme name="School B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Bus Transport Management - Review 2 Schema</dc:title>
  <dc:subject>PptxGenJS Presentation</dc:subject>
  <dc:creator>PptxGenJS</dc:creator>
  <cp:lastModifiedBy>PptxGenJS</cp:lastModifiedBy>
  <cp:revision>1</cp:revision>
  <dcterms:created xsi:type="dcterms:W3CDTF">2026-10-11T21:39:15Z</dcterms:created>
  <dcterms:modified xsi:type="dcterms:W3CDTF">2026-10-11T21:39:15Z</dcterms:modified>
</cp:coreProperties>
</file>