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4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60120"/>
            <a:ext cx="62179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1">
                <a:solidFill>
                  <a:srgbClr val="DECBB2"/>
                </a:solidFill>
                <a:latin typeface="Aptos"/>
              </a:defRPr>
            </a:pPr>
            <a:r>
              <a:t>SCHOOL TRANSPORT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645920"/>
            <a:ext cx="585216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Route &amp; Student</a:t>
            </a:r>
            <a:br/>
            <a:r>
              <a:t>Pickup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53035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0">
                <a:solidFill>
                  <a:srgbClr val="DECBB2"/>
                </a:solidFill>
                <a:latin typeface="Aptos"/>
              </a:defRPr>
            </a:pPr>
            <a:r>
              <a:t>DBMS Project •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52120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Website overview, database design and core features</a:t>
            </a:r>
          </a:p>
        </p:txBody>
      </p:sp>
      <p:pic>
        <p:nvPicPr>
          <p:cNvPr id="6" name="Picture 5" descr="WhatsApp Image 2026-10-12 at 02.42.2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68780"/>
            <a:ext cx="5120640" cy="35204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704D39"/>
                </a:solidFill>
                <a:latin typeface="Aptos"/>
              </a:defRPr>
            </a:pPr>
            <a:r>
              <a:t>Project Website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321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372F29"/>
                </a:solidFill>
                <a:latin typeface="Aptos"/>
              </a:defRPr>
            </a:pPr>
            <a:r>
              <a:t>The interface is designed around school transport routes and student pickup visibility.</a:t>
            </a:r>
          </a:p>
        </p:txBody>
      </p:sp>
      <p:pic>
        <p:nvPicPr>
          <p:cNvPr id="4" name="Picture 3" descr="WhatsApp Image 2026-10-12 at 02.42.2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08747"/>
            <a:ext cx="6675120" cy="45891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55448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100" b="1">
                <a:solidFill>
                  <a:srgbClr val="704D39"/>
                </a:solidFill>
                <a:latin typeface="Aptos"/>
              </a:defRPr>
            </a:pPr>
            <a:r>
              <a:t>Main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2057400"/>
            <a:ext cx="33832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0">
                <a:solidFill>
                  <a:srgbClr val="372F29"/>
                </a:solidFill>
                <a:latin typeface="Aptos"/>
              </a:defRPr>
            </a:pPr>
            <a:r>
              <a:t>Help administrators and families understand bus routes, pickup points and transport operations through a clear visual interface.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388620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100" b="1">
                <a:solidFill>
                  <a:srgbClr val="704D39"/>
                </a:solidFill>
                <a:latin typeface="Aptos"/>
              </a:defRPr>
            </a:pPr>
            <a:r>
              <a:t>Design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4389120"/>
            <a:ext cx="338328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0">
                <a:solidFill>
                  <a:srgbClr val="372F29"/>
                </a:solidFill>
                <a:latin typeface="Aptos"/>
              </a:defRPr>
            </a:pPr>
            <a:r>
              <a:t>A calm, map-focused layout with route cards and structured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704D39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321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372F29"/>
                </a:solidFill>
                <a:latin typeface="Aptos"/>
              </a:defRPr>
            </a:pPr>
            <a:r>
              <a:t>Why the system is useful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41732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39903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School transport information can be spread across paper records, calls and messages.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19456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7627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Parents and staff need a clear way to identify routes, stops and pickup details.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95351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Administrators need organized records for vehicles, drivers, students and transport activity.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749039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73075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A database-backed website can reduce duplication and make updates easier to manage.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704D39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321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372F29"/>
                </a:solidFill>
                <a:latin typeface="Aptos"/>
              </a:defRPr>
            </a:pPr>
            <a:r>
              <a:t>What the system aims to achieve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41732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39903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Represent buses, routes, stops, drivers, attendants and students in a structured database.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19456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7627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Show route and stop information in a map-oriented interface.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95351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Support student pickup and drop-off tracking.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749039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73075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Keep transport-related records consistent using primary and foreign keys.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2628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450799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Provide a foundation for fee tracking, maintenance records and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704D39"/>
                </a:solidFill>
                <a:latin typeface="Aptos"/>
              </a:defRPr>
            </a:pPr>
            <a:r>
              <a:t>Route Map &amp; Stop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321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372F29"/>
                </a:solidFill>
                <a:latin typeface="Aptos"/>
              </a:defRPr>
            </a:pPr>
            <a:r>
              <a:t>Website screenshots showing route map views and route information.</a:t>
            </a:r>
          </a:p>
        </p:txBody>
      </p:sp>
      <p:pic>
        <p:nvPicPr>
          <p:cNvPr id="4" name="Picture 3" descr="WhatsApp Image 2026-10-12 at 02.42.26 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92199"/>
            <a:ext cx="5486400" cy="3765041"/>
          </a:xfrm>
          <a:prstGeom prst="rect">
            <a:avLst/>
          </a:prstGeom>
        </p:spPr>
      </p:pic>
      <p:pic>
        <p:nvPicPr>
          <p:cNvPr id="5" name="Picture 4" descr="WhatsApp Image 2026-10-12 at 02.42.2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95628"/>
            <a:ext cx="5486400" cy="37581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5806440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1">
                <a:solidFill>
                  <a:srgbClr val="704D39"/>
                </a:solidFill>
                <a:latin typeface="Aptos"/>
              </a:defRPr>
            </a:pPr>
            <a:r>
              <a:t>Route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5806440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1">
                <a:solidFill>
                  <a:srgbClr val="704D39"/>
                </a:solidFill>
                <a:latin typeface="Aptos"/>
              </a:defRPr>
            </a:pPr>
            <a:r>
              <a:t>Zoomed map / pickup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704D39"/>
                </a:solidFill>
                <a:latin typeface="Aptos"/>
              </a:defRPr>
            </a:pPr>
            <a:r>
              <a:t>Route Coverage &amp; Map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321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372F29"/>
                </a:solidFill>
                <a:latin typeface="Aptos"/>
              </a:defRPr>
            </a:pPr>
            <a:r>
              <a:t>Multiple zoom levels help users understand local route detail and wider geography.</a:t>
            </a:r>
          </a:p>
        </p:txBody>
      </p:sp>
      <p:pic>
        <p:nvPicPr>
          <p:cNvPr id="4" name="Picture 3" descr="WhatsApp Image 2026-10-12 at 02.42.27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95628"/>
            <a:ext cx="5486400" cy="3758183"/>
          </a:xfrm>
          <a:prstGeom prst="rect">
            <a:avLst/>
          </a:prstGeom>
        </p:spPr>
      </p:pic>
      <p:pic>
        <p:nvPicPr>
          <p:cNvPr id="5" name="Picture 4" descr="WhatsApp Image 2026-10-12 at 02.42.27 (2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81912"/>
            <a:ext cx="5486400" cy="37856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5806440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1">
                <a:solidFill>
                  <a:srgbClr val="704D39"/>
                </a:solidFill>
                <a:latin typeface="Aptos"/>
              </a:defRPr>
            </a:pPr>
            <a:r>
              <a:t>Local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5806440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1">
                <a:solidFill>
                  <a:srgbClr val="704D39"/>
                </a:solidFill>
                <a:latin typeface="Aptos"/>
              </a:defRPr>
            </a:pPr>
            <a:r>
              <a:t>Wider geographic context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704D39"/>
                </a:solidFill>
                <a:latin typeface="Aptos"/>
              </a:defRPr>
            </a:pPr>
            <a:r>
              <a:t>Core Database Entities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321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372F29"/>
                </a:solidFill>
                <a:latin typeface="Aptos"/>
              </a:defRPr>
            </a:pPr>
            <a:r>
              <a:t>The schema separates the key parts of the transport domain.</a:t>
            </a:r>
          </a:p>
        </p:txBody>
      </p:sp>
      <p:pic>
        <p:nvPicPr>
          <p:cNvPr id="4" name="Picture 3" descr="WhatsApp Image 2026-10-12 at 02.42.2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2725"/>
            <a:ext cx="10881360" cy="50326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704D39"/>
                </a:solidFill>
                <a:latin typeface="Aptos"/>
              </a:defRPr>
            </a:pPr>
            <a:r>
              <a:t>Entity Relationship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321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372F29"/>
                </a:solidFill>
                <a:latin typeface="Aptos"/>
              </a:defRPr>
            </a:pPr>
            <a:r>
              <a:t>The ERD illustrates how operational records connect.</a:t>
            </a:r>
          </a:p>
        </p:txBody>
      </p:sp>
      <p:pic>
        <p:nvPicPr>
          <p:cNvPr id="4" name="Picture 3" descr="WhatsApp Image 2026-10-12 at 02.42.26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69" y="1143000"/>
            <a:ext cx="95197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704D39"/>
                </a:solidFill>
                <a:latin typeface="Aptos"/>
              </a:defRPr>
            </a:pPr>
            <a:r>
              <a:t>Review 1 Documentation — Page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321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372F29"/>
                </a:solidFill>
                <a:latin typeface="Aptos"/>
              </a:defRPr>
            </a:pPr>
            <a:r>
              <a:t>Content adapted from the supplied project review screenshots.</a:t>
            </a:r>
          </a:p>
        </p:txBody>
      </p:sp>
      <p:pic>
        <p:nvPicPr>
          <p:cNvPr id="4" name="Picture 3" descr="WhatsApp Image 2026-10-12 at 02.42.28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902" y="1143000"/>
            <a:ext cx="7837714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704D39"/>
                </a:solidFill>
                <a:latin typeface="Aptos"/>
              </a:defRPr>
            </a:pPr>
            <a:r>
              <a:t>Review 1 Documentation — Page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321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372F29"/>
                </a:solidFill>
                <a:latin typeface="Aptos"/>
              </a:defRPr>
            </a:pPr>
            <a:r>
              <a:t>Content adapted from the supplied project review screenshots.</a:t>
            </a:r>
          </a:p>
        </p:txBody>
      </p:sp>
      <p:pic>
        <p:nvPicPr>
          <p:cNvPr id="4" name="Picture 3" descr="WhatsApp Image 2026-10-12 at 02.42.28 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05" y="1143000"/>
            <a:ext cx="7809109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704D39"/>
                </a:solidFill>
                <a:latin typeface="Aptos"/>
              </a:defRPr>
            </a:pPr>
            <a:r>
              <a:t>Review 1 Documentation — Page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321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372F29"/>
                </a:solidFill>
                <a:latin typeface="Aptos"/>
              </a:defRPr>
            </a:pPr>
            <a:r>
              <a:t>Content adapted from the supplied project review screenshots.</a:t>
            </a:r>
          </a:p>
        </p:txBody>
      </p:sp>
      <p:pic>
        <p:nvPicPr>
          <p:cNvPr id="4" name="Picture 3" descr="WhatsApp Image 2026-10-12 at 02.42.28 (3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067" y="1143000"/>
            <a:ext cx="7823385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704D39"/>
                </a:solidFill>
                <a:latin typeface="Aptos"/>
              </a:defRPr>
            </a:pPr>
            <a:r>
              <a:t>Review 1 Documentation — Page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321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372F29"/>
                </a:solidFill>
                <a:latin typeface="Aptos"/>
              </a:defRPr>
            </a:pPr>
            <a:r>
              <a:t>Content adapted from the supplied project review screenshots.</a:t>
            </a:r>
          </a:p>
        </p:txBody>
      </p:sp>
      <p:pic>
        <p:nvPicPr>
          <p:cNvPr id="4" name="Picture 3" descr="WhatsApp Image 2026-10-12 at 02.42.2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05" y="1143000"/>
            <a:ext cx="7809109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704D39"/>
                </a:solidFill>
                <a:latin typeface="Aptos"/>
              </a:defRPr>
            </a:pPr>
            <a:r>
              <a:t>Review 1 Documentation — Page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321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372F29"/>
                </a:solidFill>
                <a:latin typeface="Aptos"/>
              </a:defRPr>
            </a:pPr>
            <a:r>
              <a:t>Content adapted from the supplied project review screenshots.</a:t>
            </a:r>
          </a:p>
        </p:txBody>
      </p:sp>
      <p:pic>
        <p:nvPicPr>
          <p:cNvPr id="4" name="Picture 3" descr="WhatsApp Image 2026-10-12 at 02.42.29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981" y="1143000"/>
            <a:ext cx="7895557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704D39"/>
                </a:solidFill>
                <a:latin typeface="Aptos"/>
              </a:defRPr>
            </a:pPr>
            <a:r>
              <a:t>Review 1 Documentation — Page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321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372F29"/>
                </a:solidFill>
                <a:latin typeface="Aptos"/>
              </a:defRPr>
            </a:pPr>
            <a:r>
              <a:t>Content adapted from the supplied project review screenshots.</a:t>
            </a:r>
          </a:p>
        </p:txBody>
      </p:sp>
      <p:pic>
        <p:nvPicPr>
          <p:cNvPr id="4" name="Picture 3" descr="WhatsApp Image 2026-10-12 at 02.42.29 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499" y="1143000"/>
            <a:ext cx="7752521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704D39"/>
                </a:solidFill>
                <a:latin typeface="Aptos"/>
              </a:defRPr>
            </a:pPr>
            <a:r>
              <a:t>Database Design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321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372F29"/>
                </a:solidFill>
                <a:latin typeface="Aptos"/>
              </a:defRPr>
            </a:pPr>
            <a:r>
              <a:t>Suggested functional tables for the school transport website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41732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39903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Bus and Maintenance — vehicle details and service history.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19456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7627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Driver and Attendant — staff records connected to transport assignments.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95351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Route, Stop and Route_Stop — routes and the ordered stops they include.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749039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73075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Transport_Assignment and Student — the scheduled transport and student stop assignments.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2628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450799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Pickup_Log and Fee_Payment — student trip activity and transport payment records.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704D39"/>
                </a:solidFill>
                <a:latin typeface="Aptos"/>
              </a:defRPr>
            </a:pPr>
            <a:r>
              <a:t>Data Integrity &amp;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321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372F29"/>
                </a:solidFill>
                <a:latin typeface="Aptos"/>
              </a:defRPr>
            </a:pPr>
            <a:r>
              <a:t>How the schema protects consistency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41732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39903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Primary keys uniquely identify each record.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19456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7627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Foreign keys connect students, routes, buses, staff and pickup logs.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95351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Unique constraints prevent duplicate registration, admission and licence numbers.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749039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73075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Validation checks can prevent invalid capacities, costs and payment amounts.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2628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450799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Create parent tables before dependent tables when running the SQL script.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800" b="1">
                <a:solidFill>
                  <a:srgbClr val="704D39"/>
                </a:solidFill>
                <a:latin typeface="Aptos"/>
              </a:defRPr>
            </a:pPr>
            <a:r>
              <a:t>Typical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321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372F29"/>
                </a:solidFill>
                <a:latin typeface="Aptos"/>
              </a:defRPr>
            </a:pPr>
            <a:r>
              <a:t>From setup to daily use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41732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39903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Administrator enters bus, driver, route and stop details.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19456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7627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Stops are ordered along each route and schedules are attached.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95351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A transport assignment connects the route, bus and staff for a period.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749039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73075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Students are assigned pickup and drop-off stops.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2628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450799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Pickup and drop-off outcomes are recorded for each trip.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303520"/>
            <a:ext cx="329184" cy="329184"/>
          </a:xfrm>
          <a:prstGeom prst="ellipse">
            <a:avLst/>
          </a:prstGeom>
          <a:solidFill>
            <a:srgbClr val="704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5285232"/>
            <a:ext cx="996696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900" b="0">
                <a:solidFill>
                  <a:srgbClr val="372F29"/>
                </a:solidFill>
                <a:latin typeface="Aptos"/>
              </a:defRPr>
            </a:pPr>
            <a:r>
              <a:t>Reports can summarize fees, route activity and vehicle maintenance.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4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98755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57400"/>
            <a:ext cx="98755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400" b="1">
                <a:solidFill>
                  <a:srgbClr val="DECBB2"/>
                </a:solidFill>
                <a:latin typeface="Aptos"/>
              </a:defRPr>
            </a:pPr>
            <a:r>
              <a:t>School Transport Route &amp; Student Pickup DBMS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26080"/>
            <a:ext cx="7772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Review 1 • Project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00600"/>
            <a:ext cx="987552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500" b="0">
                <a:solidFill>
                  <a:srgbClr val="DECBB2"/>
                </a:solidFill>
                <a:latin typeface="Aptos"/>
              </a:defRPr>
            </a:pPr>
            <a:r>
              <a:t>Note: Confirm the final schema against the live website and actual backend requirements before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